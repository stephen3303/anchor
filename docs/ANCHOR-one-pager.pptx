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1296591"/>
          </a:xfrm>
          <a:prstGeom prst="rect">
            <a:avLst/>
          </a:prstGeom>
          <a:solidFill>
            <a:srgbClr val="0F2341"/>
          </a:solidFill>
          <a:ln w="12700">
            <a:solidFill>
              <a:srgbClr val="0F2341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393690" y="150019"/>
            <a:ext cx="4825879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D2A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</a:t>
            </a:r>
            <a:endParaRPr lang="en-US" sz="6200" dirty="0"/>
          </a:p>
        </p:txBody>
      </p:sp>
      <p:sp>
        <p:nvSpPr>
          <p:cNvPr id="4" name="Subtitle"/>
          <p:cNvSpPr txBox="1"/>
          <p:nvPr/>
        </p:nvSpPr>
        <p:spPr>
          <a:xfrm>
            <a:off x="431789" y="900113"/>
            <a:ext cx="8445289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NAVAL COMMUNICATIONS HUB FOR OFFICIAL RECORDS</a:t>
            </a:r>
            <a:endParaRPr lang="en-US" sz="1500" dirty="0"/>
          </a:p>
        </p:txBody>
      </p:sp>
      <p:sp>
        <p:nvSpPr>
          <p:cNvPr id="5" name="Tagline"/>
          <p:cNvSpPr txBox="1"/>
          <p:nvPr/>
        </p:nvSpPr>
        <p:spPr>
          <a:xfrm>
            <a:off x="8762781" y="294680"/>
            <a:ext cx="3016175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900" b="1" i="1" dirty="0">
                <a:solidFill>
                  <a:srgbClr val="D2A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ANCHOR THAT</a:t>
            </a:r>
            <a:endParaRPr lang="en-US" sz="190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1900" b="1" i="1" dirty="0">
                <a:solidFill>
                  <a:srgbClr val="D2A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NOT SLOW</a:t>
            </a:r>
            <a:endParaRPr lang="en-US" sz="190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1900" b="1" i="1" dirty="0">
                <a:solidFill>
                  <a:srgbClr val="D2A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DOWN</a:t>
            </a:r>
            <a:endParaRPr lang="en-US" sz="1900" dirty="0"/>
          </a:p>
        </p:txBody>
      </p:sp>
      <p:pic>
        <p:nvPicPr>
          <p:cNvPr id="6" name="Problem icon" descr="Proble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588" y="1596628"/>
            <a:ext cx="444489" cy="444489"/>
          </a:xfrm>
          <a:prstGeom prst="rect">
            <a:avLst/>
          </a:prstGeom>
        </p:spPr>
      </p:pic>
      <p:sp>
        <p:nvSpPr>
          <p:cNvPr id="7" name="Problem heading"/>
          <p:cNvSpPr txBox="1"/>
          <p:nvPr/>
        </p:nvSpPr>
        <p:spPr>
          <a:xfrm>
            <a:off x="1028674" y="1500188"/>
            <a:ext cx="4952876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endParaRPr lang="en-US" sz="4200" dirty="0"/>
          </a:p>
        </p:txBody>
      </p:sp>
      <p:pic>
        <p:nvPicPr>
          <p:cNvPr id="8" name="Warning icon" descr="Warn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85" y="2187578"/>
            <a:ext cx="253994" cy="253994"/>
          </a:xfrm>
          <a:prstGeom prst="rect">
            <a:avLst/>
          </a:prstGeom>
        </p:spPr>
      </p:pic>
      <p:sp>
        <p:nvSpPr>
          <p:cNvPr id="9" name="Problem item"/>
          <p:cNvSpPr txBox="1"/>
          <p:nvPr/>
        </p:nvSpPr>
        <p:spPr>
          <a:xfrm>
            <a:off x="984225" y="2175272"/>
            <a:ext cx="5016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flooded with thousands of emails</a:t>
            </a:r>
            <a:endParaRPr lang="en-US" sz="1800" dirty="0"/>
          </a:p>
        </p:txBody>
      </p:sp>
      <p:pic>
        <p:nvPicPr>
          <p:cNvPr id="10" name="Warning icon" descr="Warnin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85" y="2594772"/>
            <a:ext cx="253994" cy="253994"/>
          </a:xfrm>
          <a:prstGeom prst="rect">
            <a:avLst/>
          </a:prstGeom>
        </p:spPr>
      </p:pic>
      <p:sp>
        <p:nvSpPr>
          <p:cNvPr id="11" name="Problem item"/>
          <p:cNvSpPr txBox="1"/>
          <p:nvPr/>
        </p:nvSpPr>
        <p:spPr>
          <a:xfrm>
            <a:off x="984225" y="2582466"/>
            <a:ext cx="5016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copies everywhere — no single truth</a:t>
            </a:r>
            <a:endParaRPr lang="en-US" sz="1800" dirty="0"/>
          </a:p>
        </p:txBody>
      </p:sp>
      <p:pic>
        <p:nvPicPr>
          <p:cNvPr id="12" name="Warning icon" descr="Warnin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85" y="3001966"/>
            <a:ext cx="253994" cy="253994"/>
          </a:xfrm>
          <a:prstGeom prst="rect">
            <a:avLst/>
          </a:prstGeom>
        </p:spPr>
      </p:pic>
      <p:sp>
        <p:nvSpPr>
          <p:cNvPr id="13" name="Problem item"/>
          <p:cNvSpPr txBox="1"/>
          <p:nvPr/>
        </p:nvSpPr>
        <p:spPr>
          <a:xfrm>
            <a:off x="984225" y="2989659"/>
            <a:ext cx="5016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sorting and filtering eats the day</a:t>
            </a:r>
            <a:endParaRPr lang="en-US" sz="1800" dirty="0"/>
          </a:p>
        </p:txBody>
      </p:sp>
      <p:pic>
        <p:nvPicPr>
          <p:cNvPr id="14" name="Warning icon" descr="Warning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85" y="3409159"/>
            <a:ext cx="253994" cy="253994"/>
          </a:xfrm>
          <a:prstGeom prst="rect">
            <a:avLst/>
          </a:prstGeom>
        </p:spPr>
      </p:pic>
      <p:sp>
        <p:nvSpPr>
          <p:cNvPr id="15" name="Problem item"/>
          <p:cNvSpPr txBox="1"/>
          <p:nvPr/>
        </p:nvSpPr>
        <p:spPr>
          <a:xfrm>
            <a:off x="984225" y="3396853"/>
            <a:ext cx="5016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find the authoritative version</a:t>
            </a:r>
            <a:endParaRPr lang="en-US" sz="1800" dirty="0"/>
          </a:p>
        </p:txBody>
      </p:sp>
      <p:pic>
        <p:nvPicPr>
          <p:cNvPr id="16" name="Warning icon" descr="Warning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185" y="3816353"/>
            <a:ext cx="253994" cy="253994"/>
          </a:xfrm>
          <a:prstGeom prst="rect">
            <a:avLst/>
          </a:prstGeom>
        </p:spPr>
      </p:pic>
      <p:sp>
        <p:nvSpPr>
          <p:cNvPr id="17" name="Problem item"/>
          <p:cNvSpPr txBox="1"/>
          <p:nvPr/>
        </p:nvSpPr>
        <p:spPr>
          <a:xfrm>
            <a:off x="984225" y="3804047"/>
            <a:ext cx="5016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Hard-to-read legacy format</a:t>
            </a:r>
            <a:endParaRPr lang="en-US" sz="1800" dirty="0"/>
          </a:p>
        </p:txBody>
      </p:sp>
      <p:pic>
        <p:nvPicPr>
          <p:cNvPr id="18" name="Warning icon" descr="Warning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185" y="4223547"/>
            <a:ext cx="253994" cy="253994"/>
          </a:xfrm>
          <a:prstGeom prst="rect">
            <a:avLst/>
          </a:prstGeom>
        </p:spPr>
      </p:pic>
      <p:sp>
        <p:nvSpPr>
          <p:cNvPr id="19" name="Problem item"/>
          <p:cNvSpPr txBox="1"/>
          <p:nvPr/>
        </p:nvSpPr>
        <p:spPr>
          <a:xfrm>
            <a:off x="984225" y="4211241"/>
            <a:ext cx="5016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edits break trust and version control</a:t>
            </a:r>
            <a:endParaRPr lang="en-US" sz="1800" dirty="0"/>
          </a:p>
        </p:txBody>
      </p:sp>
      <p:sp>
        <p:nvSpPr>
          <p:cNvPr id="20" name="Shape 11"/>
          <p:cNvSpPr/>
          <p:nvPr/>
        </p:nvSpPr>
        <p:spPr>
          <a:xfrm>
            <a:off x="6095848" y="1596628"/>
            <a:ext cx="0" cy="2823567"/>
          </a:xfrm>
          <a:prstGeom prst="line">
            <a:avLst/>
          </a:prstGeom>
          <a:noFill/>
          <a:ln w="19050">
            <a:solidFill>
              <a:srgbClr val="C9A26B"/>
            </a:solidFill>
            <a:prstDash val="solid"/>
          </a:ln>
        </p:spPr>
      </p:sp>
      <p:pic>
        <p:nvPicPr>
          <p:cNvPr id="21" name="Fix icon" descr="Fix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138" y="1596628"/>
            <a:ext cx="431789" cy="431789"/>
          </a:xfrm>
          <a:prstGeom prst="rect">
            <a:avLst/>
          </a:prstGeom>
        </p:spPr>
      </p:pic>
      <p:sp>
        <p:nvSpPr>
          <p:cNvPr id="22" name="Fix heading"/>
          <p:cNvSpPr txBox="1"/>
          <p:nvPr/>
        </p:nvSpPr>
        <p:spPr>
          <a:xfrm>
            <a:off x="6997525" y="1500188"/>
            <a:ext cx="4444889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</a:t>
            </a:r>
            <a:endParaRPr lang="en-US" sz="4200" dirty="0"/>
          </a:p>
        </p:txBody>
      </p:sp>
      <p:pic>
        <p:nvPicPr>
          <p:cNvPr id="23" name="Check icon" descr="Chec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036" y="2135984"/>
            <a:ext cx="228594" cy="228594"/>
          </a:xfrm>
          <a:prstGeom prst="rect">
            <a:avLst/>
          </a:prstGeom>
        </p:spPr>
      </p:pic>
      <p:sp>
        <p:nvSpPr>
          <p:cNvPr id="24" name="Fix item"/>
          <p:cNvSpPr txBox="1"/>
          <p:nvPr/>
        </p:nvSpPr>
        <p:spPr>
          <a:xfrm>
            <a:off x="6895928" y="2132409"/>
            <a:ext cx="520687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subscriptions</a:t>
            </a:r>
            <a:endParaRPr lang="en-US" sz="1650" dirty="0"/>
          </a:p>
        </p:txBody>
      </p:sp>
      <p:pic>
        <p:nvPicPr>
          <p:cNvPr id="25" name="Check icon" descr="Check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036" y="2436022"/>
            <a:ext cx="228594" cy="228594"/>
          </a:xfrm>
          <a:prstGeom prst="rect">
            <a:avLst/>
          </a:prstGeom>
        </p:spPr>
      </p:pic>
      <p:sp>
        <p:nvSpPr>
          <p:cNvPr id="26" name="Fix item"/>
          <p:cNvSpPr txBox="1"/>
          <p:nvPr/>
        </p:nvSpPr>
        <p:spPr>
          <a:xfrm>
            <a:off x="6895928" y="2421731"/>
            <a:ext cx="520687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validate with </a:t>
            </a:r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highlight>
                  <a:srgbClr val="E3BE8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AMENDED</a:t>
            </a:r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</a:t>
            </a:r>
            <a:endParaRPr lang="en-US" sz="1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highlight>
                  <a:srgbClr val="E3BE8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highlight>
                  <a:srgbClr val="E3BE8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SUPERSEDED</a:t>
            </a:r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tags</a:t>
            </a:r>
            <a:endParaRPr lang="en-US" sz="1650" dirty="0"/>
          </a:p>
        </p:txBody>
      </p:sp>
      <p:pic>
        <p:nvPicPr>
          <p:cNvPr id="27" name="Check icon" descr="Check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036" y="2945014"/>
            <a:ext cx="228594" cy="228594"/>
          </a:xfrm>
          <a:prstGeom prst="rect">
            <a:avLst/>
          </a:prstGeom>
        </p:spPr>
      </p:pic>
      <p:sp>
        <p:nvSpPr>
          <p:cNvPr id="28" name="Fix item"/>
          <p:cNvSpPr txBox="1"/>
          <p:nvPr/>
        </p:nvSpPr>
        <p:spPr>
          <a:xfrm>
            <a:off x="6895928" y="2941439"/>
            <a:ext cx="520687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briefings with mandatory ack and audit</a:t>
            </a:r>
            <a:endParaRPr lang="en-US" sz="1650" dirty="0"/>
          </a:p>
        </p:txBody>
      </p:sp>
      <p:pic>
        <p:nvPicPr>
          <p:cNvPr id="29" name="Check icon" descr="Check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036" y="3239693"/>
            <a:ext cx="228594" cy="228594"/>
          </a:xfrm>
          <a:prstGeom prst="rect">
            <a:avLst/>
          </a:prstGeom>
        </p:spPr>
      </p:pic>
      <p:sp>
        <p:nvSpPr>
          <p:cNvPr id="30" name="Fix item"/>
          <p:cNvSpPr txBox="1"/>
          <p:nvPr/>
        </p:nvSpPr>
        <p:spPr>
          <a:xfrm>
            <a:off x="6895928" y="3236119"/>
            <a:ext cx="520687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cache for </a:t>
            </a:r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highlight>
                  <a:srgbClr val="E3BE8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EMCON/DDIL</a:t>
            </a:r>
            <a:endParaRPr lang="en-US" sz="1650" dirty="0"/>
          </a:p>
        </p:txBody>
      </p:sp>
      <p:pic>
        <p:nvPicPr>
          <p:cNvPr id="31" name="Check icon" descr="Check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036" y="3534373"/>
            <a:ext cx="228594" cy="228594"/>
          </a:xfrm>
          <a:prstGeom prst="rect">
            <a:avLst/>
          </a:prstGeom>
        </p:spPr>
      </p:pic>
      <p:sp>
        <p:nvSpPr>
          <p:cNvPr id="32" name="Fix item"/>
          <p:cNvSpPr txBox="1"/>
          <p:nvPr/>
        </p:nvSpPr>
        <p:spPr>
          <a:xfrm>
            <a:off x="6895928" y="3530798"/>
            <a:ext cx="520687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integrity — tamper-proof</a:t>
            </a:r>
            <a:endParaRPr lang="en-US" sz="1650" dirty="0"/>
          </a:p>
        </p:txBody>
      </p:sp>
      <p:pic>
        <p:nvPicPr>
          <p:cNvPr id="33" name="Check icon" descr="Check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036" y="3829053"/>
            <a:ext cx="228594" cy="228594"/>
          </a:xfrm>
          <a:prstGeom prst="rect">
            <a:avLst/>
          </a:prstGeom>
        </p:spPr>
      </p:pic>
      <p:sp>
        <p:nvSpPr>
          <p:cNvPr id="34" name="Fix item"/>
          <p:cNvSpPr txBox="1"/>
          <p:nvPr/>
        </p:nvSpPr>
        <p:spPr>
          <a:xfrm>
            <a:off x="6895928" y="3804047"/>
            <a:ext cx="520687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for each Command to retrieve</a:t>
            </a:r>
            <a:endParaRPr lang="en-US" sz="1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in any environment or posture</a:t>
            </a:r>
            <a:endParaRPr lang="en-US" sz="1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</a:t>
            </a:r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highlight>
                  <a:srgbClr val="E3BE8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CIA</a:t>
            </a:r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rgbClr val="13233F"/>
                </a:solidFill>
                <a:highlight>
                  <a:srgbClr val="E3BE8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Confidentiality Integrity Availability</a:t>
            </a:r>
            <a:endParaRPr lang="en-US" sz="1650" dirty="0"/>
          </a:p>
        </p:txBody>
      </p:sp>
      <p:sp>
        <p:nvSpPr>
          <p:cNvPr id="35" name="Impact tab"/>
          <p:cNvSpPr/>
          <p:nvPr/>
        </p:nvSpPr>
        <p:spPr>
          <a:xfrm>
            <a:off x="3282868" y="4661297"/>
            <a:ext cx="5619610" cy="750094"/>
          </a:xfrm>
          <a:prstGeom prst="roundRect">
            <a:avLst>
              <a:gd name="adj" fmla="val 42667"/>
            </a:avLst>
          </a:prstGeom>
          <a:solidFill>
            <a:srgbClr val="0F2341"/>
          </a:solidFill>
          <a:ln w="12700">
            <a:solidFill>
              <a:srgbClr val="0F2341"/>
            </a:solidFill>
            <a:prstDash val="solid"/>
          </a:ln>
        </p:spPr>
      </p:sp>
      <p:sp>
        <p:nvSpPr>
          <p:cNvPr id="36" name="Impact panel"/>
          <p:cNvSpPr/>
          <p:nvPr/>
        </p:nvSpPr>
        <p:spPr>
          <a:xfrm>
            <a:off x="241294" y="4918472"/>
            <a:ext cx="11709107" cy="1607344"/>
          </a:xfrm>
          <a:prstGeom prst="roundRect">
            <a:avLst>
              <a:gd name="adj" fmla="val 17067"/>
            </a:avLst>
          </a:prstGeom>
          <a:solidFill>
            <a:srgbClr val="0F2341"/>
          </a:solidFill>
          <a:ln w="12700">
            <a:solidFill>
              <a:srgbClr val="0F2341"/>
            </a:solidFill>
            <a:prstDash val="solid"/>
          </a:ln>
        </p:spPr>
      </p:sp>
      <p:sp>
        <p:nvSpPr>
          <p:cNvPr id="37" name="Impact panel base"/>
          <p:cNvSpPr/>
          <p:nvPr/>
        </p:nvSpPr>
        <p:spPr>
          <a:xfrm>
            <a:off x="241294" y="5786438"/>
            <a:ext cx="11709107" cy="728663"/>
          </a:xfrm>
          <a:prstGeom prst="rect">
            <a:avLst/>
          </a:prstGeom>
          <a:solidFill>
            <a:srgbClr val="0F2341"/>
          </a:solidFill>
          <a:ln w="12700">
            <a:solidFill>
              <a:srgbClr val="0F2341"/>
            </a:solidFill>
            <a:prstDash val="solid"/>
          </a:ln>
        </p:spPr>
      </p:sp>
      <p:pic>
        <p:nvPicPr>
          <p:cNvPr id="38" name="Anchor icon" descr="Anchor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81550" y="4682728"/>
            <a:ext cx="228594" cy="228594"/>
          </a:xfrm>
          <a:prstGeom prst="rect">
            <a:avLst/>
          </a:prstGeom>
        </p:spPr>
      </p:pic>
      <p:sp>
        <p:nvSpPr>
          <p:cNvPr id="39" name="Impact heading"/>
          <p:cNvSpPr txBox="1"/>
          <p:nvPr/>
        </p:nvSpPr>
        <p:spPr>
          <a:xfrm>
            <a:off x="3282868" y="4939903"/>
            <a:ext cx="561961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2A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Warfighting Impact &amp; Fleet Readiness</a:t>
            </a:r>
            <a:endParaRPr lang="en-US" sz="1900" dirty="0"/>
          </a:p>
        </p:txBody>
      </p:sp>
      <p:sp>
        <p:nvSpPr>
          <p:cNvPr id="40" name="Shape 23"/>
          <p:cNvSpPr/>
          <p:nvPr/>
        </p:nvSpPr>
        <p:spPr>
          <a:xfrm>
            <a:off x="4159146" y="5331023"/>
            <a:ext cx="0" cy="1044773"/>
          </a:xfrm>
          <a:prstGeom prst="line">
            <a:avLst/>
          </a:prstGeom>
          <a:noFill/>
          <a:ln w="12700">
            <a:solidFill>
              <a:srgbClr val="3A4E70"/>
            </a:solidFill>
            <a:prstDash val="solid"/>
          </a:ln>
        </p:spPr>
      </p:sp>
      <p:sp>
        <p:nvSpPr>
          <p:cNvPr id="41" name="Shape 24"/>
          <p:cNvSpPr/>
          <p:nvPr/>
        </p:nvSpPr>
        <p:spPr>
          <a:xfrm>
            <a:off x="8076998" y="5331023"/>
            <a:ext cx="0" cy="1044773"/>
          </a:xfrm>
          <a:prstGeom prst="line">
            <a:avLst/>
          </a:prstGeom>
          <a:noFill/>
          <a:ln w="12700">
            <a:solidFill>
              <a:srgbClr val="3A4E70"/>
            </a:solidFill>
            <a:prstDash val="solid"/>
          </a:ln>
        </p:spPr>
      </p:sp>
      <p:pic>
        <p:nvPicPr>
          <p:cNvPr id="42" name="Speed icon" descr="Speed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70048" y="5175647"/>
            <a:ext cx="393690" cy="393690"/>
          </a:xfrm>
          <a:prstGeom prst="rect">
            <a:avLst/>
          </a:prstGeom>
        </p:spPr>
      </p:pic>
      <p:sp>
        <p:nvSpPr>
          <p:cNvPr id="43" name="Impact 1 headline"/>
          <p:cNvSpPr txBox="1"/>
          <p:nvPr/>
        </p:nvSpPr>
        <p:spPr>
          <a:xfrm>
            <a:off x="444489" y="5572125"/>
            <a:ext cx="361941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time to</a:t>
            </a:r>
            <a:endParaRPr lang="en-US" sz="2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delivery</a:t>
            </a:r>
            <a:endParaRPr lang="en-US" sz="2000" dirty="0"/>
          </a:p>
        </p:txBody>
      </p:sp>
      <p:sp>
        <p:nvSpPr>
          <p:cNvPr id="44" name="Impact 1 detail"/>
          <p:cNvSpPr txBox="1"/>
          <p:nvPr/>
        </p:nvSpPr>
        <p:spPr>
          <a:xfrm>
            <a:off x="444489" y="6107906"/>
            <a:ext cx="3619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for the mission —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inbox management</a:t>
            </a:r>
            <a:endParaRPr lang="en-US" sz="1200" dirty="0"/>
          </a:p>
        </p:txBody>
      </p:sp>
      <p:pic>
        <p:nvPicPr>
          <p:cNvPr id="45" name="Signal icon" descr="Signal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92653" y="5175647"/>
            <a:ext cx="393690" cy="393690"/>
          </a:xfrm>
          <a:prstGeom prst="rect">
            <a:avLst/>
          </a:prstGeom>
        </p:spPr>
      </p:pic>
      <p:sp>
        <p:nvSpPr>
          <p:cNvPr id="46" name="Impact 2 headline"/>
          <p:cNvSpPr txBox="1"/>
          <p:nvPr/>
        </p:nvSpPr>
        <p:spPr>
          <a:xfrm>
            <a:off x="4317892" y="5572125"/>
            <a:ext cx="361941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Fleet</a:t>
            </a:r>
            <a:endParaRPr lang="en-US" sz="2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DDIL capable</a:t>
            </a:r>
            <a:endParaRPr lang="en-US" sz="2000" dirty="0"/>
          </a:p>
        </p:txBody>
      </p:sp>
      <p:sp>
        <p:nvSpPr>
          <p:cNvPr id="47" name="Impact 2 detail"/>
          <p:cNvSpPr txBox="1"/>
          <p:nvPr/>
        </p:nvSpPr>
        <p:spPr>
          <a:xfrm>
            <a:off x="4317892" y="6140053"/>
            <a:ext cx="361941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offline • low-bandwidth resilient</a:t>
            </a:r>
            <a:endParaRPr lang="en-US" sz="1200" dirty="0"/>
          </a:p>
        </p:txBody>
      </p:sp>
      <p:pic>
        <p:nvPicPr>
          <p:cNvPr id="48" name="Network icon" descr="Network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72406" y="5175647"/>
            <a:ext cx="393690" cy="393690"/>
          </a:xfrm>
          <a:prstGeom prst="rect">
            <a:avLst/>
          </a:prstGeom>
        </p:spPr>
      </p:pic>
      <p:sp>
        <p:nvSpPr>
          <p:cNvPr id="49" name="Impact 3 headline"/>
          <p:cNvSpPr txBox="1"/>
          <p:nvPr/>
        </p:nvSpPr>
        <p:spPr>
          <a:xfrm>
            <a:off x="8191295" y="5604272"/>
            <a:ext cx="361941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2000" dirty="0"/>
          </a:p>
        </p:txBody>
      </p:sp>
      <p:sp>
        <p:nvSpPr>
          <p:cNvPr id="50" name="Impact 3 detail"/>
          <p:cNvSpPr txBox="1"/>
          <p:nvPr/>
        </p:nvSpPr>
        <p:spPr>
          <a:xfrm>
            <a:off x="8191295" y="5915025"/>
            <a:ext cx="361941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Domains</a:t>
            </a:r>
            <a:endParaRPr lang="en-US" sz="1300" dirty="0"/>
          </a:p>
        </p:txBody>
      </p:sp>
      <p:sp>
        <p:nvSpPr>
          <p:cNvPr id="51" name="Footer"/>
          <p:cNvSpPr txBox="1"/>
          <p:nvPr/>
        </p:nvSpPr>
        <p:spPr>
          <a:xfrm>
            <a:off x="253994" y="6547247"/>
            <a:ext cx="1168370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50" kern="0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 •  Secure  •  Auditable  •  Interoperable  •  Department of War  •  Wide Ready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1328738"/>
          </a:xfrm>
          <a:prstGeom prst="rect">
            <a:avLst/>
          </a:prstGeom>
          <a:solidFill>
            <a:srgbClr val="0F2341"/>
          </a:solidFill>
          <a:ln w="12700">
            <a:solidFill>
              <a:srgbClr val="0F2341"/>
            </a:solidFill>
            <a:prstDash val="solid"/>
          </a:ln>
        </p:spPr>
      </p:sp>
      <p:sp>
        <p:nvSpPr>
          <p:cNvPr id="3" name="Logo ring"/>
          <p:cNvSpPr/>
          <p:nvPr/>
        </p:nvSpPr>
        <p:spPr>
          <a:xfrm>
            <a:off x="457189" y="305395"/>
            <a:ext cx="876278" cy="876278"/>
          </a:xfrm>
          <a:prstGeom prst="ellipse">
            <a:avLst/>
          </a:prstGeom>
          <a:solidFill>
            <a:srgbClr val="0F2341"/>
          </a:solidFill>
          <a:ln w="12700">
            <a:solidFill>
              <a:srgbClr val="3D5070"/>
            </a:solidFill>
            <a:prstDash val="solid"/>
          </a:ln>
        </p:spPr>
      </p:sp>
      <p:pic>
        <p:nvPicPr>
          <p:cNvPr id="4" name="Anchor logo" descr="Anchor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07194"/>
            <a:ext cx="571486" cy="571486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1473163" y="160734"/>
            <a:ext cx="4063898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</a:t>
            </a:r>
            <a:endParaRPr lang="en-US" sz="6000" dirty="0"/>
          </a:p>
        </p:txBody>
      </p:sp>
      <p:sp>
        <p:nvSpPr>
          <p:cNvPr id="6" name="Subtitle"/>
          <p:cNvSpPr txBox="1"/>
          <p:nvPr/>
        </p:nvSpPr>
        <p:spPr>
          <a:xfrm>
            <a:off x="1504912" y="910828"/>
            <a:ext cx="7302317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NAVAL COMMUNICATIONS HUB FOR OFFICIAL RECORDS</a:t>
            </a:r>
            <a:endParaRPr lang="en-US" sz="1300" dirty="0"/>
          </a:p>
        </p:txBody>
      </p:sp>
      <p:sp>
        <p:nvSpPr>
          <p:cNvPr id="7" name="Tagline"/>
          <p:cNvSpPr txBox="1"/>
          <p:nvPr/>
        </p:nvSpPr>
        <p:spPr>
          <a:xfrm>
            <a:off x="8826279" y="385763"/>
            <a:ext cx="3047924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D2A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ANCHOR THAT WILL</a:t>
            </a:r>
            <a:endParaRPr lang="en-US" sz="1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D2A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SLOW YOU DOWN</a:t>
            </a:r>
            <a:endParaRPr lang="en-US" sz="1900" dirty="0"/>
          </a:p>
        </p:txBody>
      </p:sp>
      <p:sp>
        <p:nvSpPr>
          <p:cNvPr id="8" name="Problem background"/>
          <p:cNvSpPr/>
          <p:nvPr/>
        </p:nvSpPr>
        <p:spPr>
          <a:xfrm>
            <a:off x="0" y="1328738"/>
            <a:ext cx="6095848" cy="3412927"/>
          </a:xfrm>
          <a:prstGeom prst="rect">
            <a:avLst/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83148" y="1543050"/>
            <a:ext cx="0" cy="3000375"/>
          </a:xfrm>
          <a:prstGeom prst="line">
            <a:avLst/>
          </a:prstGeom>
          <a:noFill/>
          <a:ln w="19050">
            <a:solidFill>
              <a:srgbClr val="C9A26B"/>
            </a:solidFill>
            <a:prstDash val="solid"/>
          </a:ln>
        </p:spPr>
      </p:sp>
      <p:pic>
        <p:nvPicPr>
          <p:cNvPr id="10" name="Problem icon" descr="Problem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83" y="1639491"/>
            <a:ext cx="406390" cy="406390"/>
          </a:xfrm>
          <a:prstGeom prst="rect">
            <a:avLst/>
          </a:prstGeom>
        </p:spPr>
      </p:pic>
      <p:sp>
        <p:nvSpPr>
          <p:cNvPr id="11" name="Problem heading"/>
          <p:cNvSpPr txBox="1"/>
          <p:nvPr/>
        </p:nvSpPr>
        <p:spPr>
          <a:xfrm>
            <a:off x="1219170" y="1526977"/>
            <a:ext cx="4698883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4200" dirty="0"/>
          </a:p>
        </p:txBody>
      </p:sp>
      <p:sp>
        <p:nvSpPr>
          <p:cNvPr id="12" name="Bullet dot"/>
          <p:cNvSpPr/>
          <p:nvPr/>
        </p:nvSpPr>
        <p:spPr>
          <a:xfrm>
            <a:off x="527037" y="2293144"/>
            <a:ext cx="88898" cy="88898"/>
          </a:xfrm>
          <a:prstGeom prst="ellipse">
            <a:avLst/>
          </a:prstGeom>
          <a:solidFill>
            <a:srgbClr val="C9A26B"/>
          </a:solidFill>
          <a:ln w="12700">
            <a:solidFill>
              <a:srgbClr val="C9A26B"/>
            </a:solidFill>
            <a:prstDash val="solid"/>
          </a:ln>
        </p:spPr>
      </p:sp>
      <p:pic>
        <p:nvPicPr>
          <p:cNvPr id="13" name="Problem item icon" descr="Problem item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" y="2171902"/>
            <a:ext cx="317492" cy="317492"/>
          </a:xfrm>
          <a:prstGeom prst="rect">
            <a:avLst/>
          </a:prstGeom>
        </p:spPr>
      </p:pic>
      <p:sp>
        <p:nvSpPr>
          <p:cNvPr id="14" name="Problem item"/>
          <p:cNvSpPr txBox="1"/>
          <p:nvPr/>
        </p:nvSpPr>
        <p:spPr>
          <a:xfrm>
            <a:off x="1257269" y="2191345"/>
            <a:ext cx="47623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flooded with thousands of emails</a:t>
            </a:r>
            <a:endParaRPr lang="en-US" sz="1700" dirty="0"/>
          </a:p>
        </p:txBody>
      </p:sp>
      <p:sp>
        <p:nvSpPr>
          <p:cNvPr id="15" name="Bullet dot"/>
          <p:cNvSpPr/>
          <p:nvPr/>
        </p:nvSpPr>
        <p:spPr>
          <a:xfrm>
            <a:off x="527037" y="2694980"/>
            <a:ext cx="88898" cy="88898"/>
          </a:xfrm>
          <a:prstGeom prst="ellipse">
            <a:avLst/>
          </a:prstGeom>
          <a:solidFill>
            <a:srgbClr val="C9A26B"/>
          </a:solidFill>
          <a:ln w="12700">
            <a:solidFill>
              <a:srgbClr val="C9A26B"/>
            </a:solidFill>
            <a:prstDash val="solid"/>
          </a:ln>
        </p:spPr>
      </p:sp>
      <p:pic>
        <p:nvPicPr>
          <p:cNvPr id="16" name="Problem item icon" descr="Problem item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82" y="2573738"/>
            <a:ext cx="317492" cy="317492"/>
          </a:xfrm>
          <a:prstGeom prst="rect">
            <a:avLst/>
          </a:prstGeom>
        </p:spPr>
      </p:pic>
      <p:sp>
        <p:nvSpPr>
          <p:cNvPr id="17" name="Problem item"/>
          <p:cNvSpPr txBox="1"/>
          <p:nvPr/>
        </p:nvSpPr>
        <p:spPr>
          <a:xfrm>
            <a:off x="1257269" y="2593181"/>
            <a:ext cx="47623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copies everywhere — no single truth</a:t>
            </a:r>
            <a:endParaRPr lang="en-US" sz="1700" dirty="0"/>
          </a:p>
        </p:txBody>
      </p:sp>
      <p:sp>
        <p:nvSpPr>
          <p:cNvPr id="18" name="Bullet dot"/>
          <p:cNvSpPr/>
          <p:nvPr/>
        </p:nvSpPr>
        <p:spPr>
          <a:xfrm>
            <a:off x="527037" y="3096816"/>
            <a:ext cx="88898" cy="88898"/>
          </a:xfrm>
          <a:prstGeom prst="ellipse">
            <a:avLst/>
          </a:prstGeom>
          <a:solidFill>
            <a:srgbClr val="C9A26B"/>
          </a:solidFill>
          <a:ln w="12700">
            <a:solidFill>
              <a:srgbClr val="C9A26B"/>
            </a:solidFill>
            <a:prstDash val="solid"/>
          </a:ln>
        </p:spPr>
      </p:sp>
      <p:pic>
        <p:nvPicPr>
          <p:cNvPr id="19" name="Problem item icon" descr="Problem item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82" y="2975574"/>
            <a:ext cx="317492" cy="317492"/>
          </a:xfrm>
          <a:prstGeom prst="rect">
            <a:avLst/>
          </a:prstGeom>
        </p:spPr>
      </p:pic>
      <p:sp>
        <p:nvSpPr>
          <p:cNvPr id="20" name="Problem item"/>
          <p:cNvSpPr txBox="1"/>
          <p:nvPr/>
        </p:nvSpPr>
        <p:spPr>
          <a:xfrm>
            <a:off x="1257269" y="2995017"/>
            <a:ext cx="47623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sorting and filtering eats the day</a:t>
            </a:r>
            <a:endParaRPr lang="en-US" sz="1700" dirty="0"/>
          </a:p>
        </p:txBody>
      </p:sp>
      <p:sp>
        <p:nvSpPr>
          <p:cNvPr id="21" name="Bullet dot"/>
          <p:cNvSpPr/>
          <p:nvPr/>
        </p:nvSpPr>
        <p:spPr>
          <a:xfrm>
            <a:off x="527037" y="3498652"/>
            <a:ext cx="88898" cy="88898"/>
          </a:xfrm>
          <a:prstGeom prst="ellipse">
            <a:avLst/>
          </a:prstGeom>
          <a:solidFill>
            <a:srgbClr val="C9A26B"/>
          </a:solidFill>
          <a:ln w="12700">
            <a:solidFill>
              <a:srgbClr val="C9A26B"/>
            </a:solidFill>
            <a:prstDash val="solid"/>
          </a:ln>
        </p:spPr>
      </p:sp>
      <p:pic>
        <p:nvPicPr>
          <p:cNvPr id="22" name="Problem item icon" descr="Problem item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82" y="3377410"/>
            <a:ext cx="317492" cy="317492"/>
          </a:xfrm>
          <a:prstGeom prst="rect">
            <a:avLst/>
          </a:prstGeom>
        </p:spPr>
      </p:pic>
      <p:sp>
        <p:nvSpPr>
          <p:cNvPr id="23" name="Problem item"/>
          <p:cNvSpPr txBox="1"/>
          <p:nvPr/>
        </p:nvSpPr>
        <p:spPr>
          <a:xfrm>
            <a:off x="1257269" y="3396853"/>
            <a:ext cx="47623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find the authoritative version</a:t>
            </a:r>
            <a:endParaRPr lang="en-US" sz="1700" dirty="0"/>
          </a:p>
        </p:txBody>
      </p:sp>
      <p:sp>
        <p:nvSpPr>
          <p:cNvPr id="24" name="Bullet dot"/>
          <p:cNvSpPr/>
          <p:nvPr/>
        </p:nvSpPr>
        <p:spPr>
          <a:xfrm>
            <a:off x="527037" y="3900488"/>
            <a:ext cx="88898" cy="88898"/>
          </a:xfrm>
          <a:prstGeom prst="ellipse">
            <a:avLst/>
          </a:prstGeom>
          <a:solidFill>
            <a:srgbClr val="C9A26B"/>
          </a:solidFill>
          <a:ln w="12700">
            <a:solidFill>
              <a:srgbClr val="C9A26B"/>
            </a:solidFill>
            <a:prstDash val="solid"/>
          </a:ln>
        </p:spPr>
      </p:sp>
      <p:pic>
        <p:nvPicPr>
          <p:cNvPr id="25" name="Problem item icon" descr="Problem item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882" y="3779246"/>
            <a:ext cx="317492" cy="317492"/>
          </a:xfrm>
          <a:prstGeom prst="rect">
            <a:avLst/>
          </a:prstGeom>
        </p:spPr>
      </p:pic>
      <p:sp>
        <p:nvSpPr>
          <p:cNvPr id="26" name="Problem item"/>
          <p:cNvSpPr txBox="1"/>
          <p:nvPr/>
        </p:nvSpPr>
        <p:spPr>
          <a:xfrm>
            <a:off x="1257269" y="3798689"/>
            <a:ext cx="47623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Hard-to-read legacy format</a:t>
            </a:r>
            <a:endParaRPr lang="en-US" sz="1700" dirty="0"/>
          </a:p>
        </p:txBody>
      </p:sp>
      <p:sp>
        <p:nvSpPr>
          <p:cNvPr id="27" name="Bullet dot"/>
          <p:cNvSpPr/>
          <p:nvPr/>
        </p:nvSpPr>
        <p:spPr>
          <a:xfrm>
            <a:off x="527037" y="4302323"/>
            <a:ext cx="88898" cy="88898"/>
          </a:xfrm>
          <a:prstGeom prst="ellipse">
            <a:avLst/>
          </a:prstGeom>
          <a:solidFill>
            <a:srgbClr val="C9A26B"/>
          </a:solidFill>
          <a:ln w="12700">
            <a:solidFill>
              <a:srgbClr val="C9A26B"/>
            </a:solidFill>
            <a:prstDash val="solid"/>
          </a:ln>
        </p:spPr>
      </p:sp>
      <p:pic>
        <p:nvPicPr>
          <p:cNvPr id="28" name="Problem item icon" descr="Problem item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882" y="4181082"/>
            <a:ext cx="317492" cy="317492"/>
          </a:xfrm>
          <a:prstGeom prst="rect">
            <a:avLst/>
          </a:prstGeom>
        </p:spPr>
      </p:pic>
      <p:sp>
        <p:nvSpPr>
          <p:cNvPr id="29" name="Problem item"/>
          <p:cNvSpPr txBox="1"/>
          <p:nvPr/>
        </p:nvSpPr>
        <p:spPr>
          <a:xfrm>
            <a:off x="1257269" y="4200525"/>
            <a:ext cx="47623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edits break trust and version control</a:t>
            </a:r>
            <a:endParaRPr lang="en-US" sz="1700" dirty="0"/>
          </a:p>
        </p:txBody>
      </p:sp>
      <p:pic>
        <p:nvPicPr>
          <p:cNvPr id="30" name="Fix icon" descr="Fix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8132" y="1628775"/>
            <a:ext cx="419090" cy="419090"/>
          </a:xfrm>
          <a:prstGeom prst="rect">
            <a:avLst/>
          </a:prstGeom>
        </p:spPr>
      </p:pic>
      <p:sp>
        <p:nvSpPr>
          <p:cNvPr id="31" name="Fix heading"/>
          <p:cNvSpPr txBox="1"/>
          <p:nvPr/>
        </p:nvSpPr>
        <p:spPr>
          <a:xfrm>
            <a:off x="7270568" y="1526977"/>
            <a:ext cx="4444889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4200" dirty="0"/>
          </a:p>
        </p:txBody>
      </p:sp>
      <p:pic>
        <p:nvPicPr>
          <p:cNvPr id="32" name="Fix item icon" descr="Fix item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3531" y="2134398"/>
            <a:ext cx="317492" cy="317492"/>
          </a:xfrm>
          <a:prstGeom prst="rect">
            <a:avLst/>
          </a:prstGeom>
        </p:spPr>
      </p:pic>
      <p:sp>
        <p:nvSpPr>
          <p:cNvPr id="33" name="Fix item"/>
          <p:cNvSpPr txBox="1"/>
          <p:nvPr/>
        </p:nvSpPr>
        <p:spPr>
          <a:xfrm>
            <a:off x="7283268" y="2185988"/>
            <a:ext cx="482587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subscriptions</a:t>
            </a:r>
            <a:endParaRPr lang="en-US" sz="1500" dirty="0"/>
          </a:p>
        </p:txBody>
      </p:sp>
      <p:pic>
        <p:nvPicPr>
          <p:cNvPr id="34" name="Fix item icon" descr="Fix item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3531" y="2536234"/>
            <a:ext cx="317492" cy="317492"/>
          </a:xfrm>
          <a:prstGeom prst="rect">
            <a:avLst/>
          </a:prstGeom>
        </p:spPr>
      </p:pic>
      <p:sp>
        <p:nvSpPr>
          <p:cNvPr id="35" name="Fix item"/>
          <p:cNvSpPr txBox="1"/>
          <p:nvPr/>
        </p:nvSpPr>
        <p:spPr>
          <a:xfrm>
            <a:off x="7283268" y="2480667"/>
            <a:ext cx="482587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validate with AMENDED /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 / SUPERSEDED tags</a:t>
            </a:r>
            <a:endParaRPr lang="en-US" sz="1500" dirty="0"/>
          </a:p>
        </p:txBody>
      </p:sp>
      <p:pic>
        <p:nvPicPr>
          <p:cNvPr id="36" name="Fix item icon" descr="Fix item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3531" y="2932712"/>
            <a:ext cx="317492" cy="317492"/>
          </a:xfrm>
          <a:prstGeom prst="rect">
            <a:avLst/>
          </a:prstGeom>
        </p:spPr>
      </p:pic>
      <p:sp>
        <p:nvSpPr>
          <p:cNvPr id="37" name="Fix item"/>
          <p:cNvSpPr txBox="1"/>
          <p:nvPr/>
        </p:nvSpPr>
        <p:spPr>
          <a:xfrm>
            <a:off x="7283268" y="2984302"/>
            <a:ext cx="482587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briefings with mandatory ack and audit</a:t>
            </a:r>
            <a:endParaRPr lang="en-US" sz="1500" dirty="0"/>
          </a:p>
        </p:txBody>
      </p:sp>
      <p:pic>
        <p:nvPicPr>
          <p:cNvPr id="38" name="Fix item icon" descr="Fix item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3531" y="3280970"/>
            <a:ext cx="317492" cy="317492"/>
          </a:xfrm>
          <a:prstGeom prst="rect">
            <a:avLst/>
          </a:prstGeom>
        </p:spPr>
      </p:pic>
      <p:sp>
        <p:nvSpPr>
          <p:cNvPr id="39" name="Fix item"/>
          <p:cNvSpPr txBox="1"/>
          <p:nvPr/>
        </p:nvSpPr>
        <p:spPr>
          <a:xfrm>
            <a:off x="7283268" y="3332559"/>
            <a:ext cx="482587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cache for EMCON/DDIL</a:t>
            </a:r>
            <a:endParaRPr lang="en-US" sz="1500" dirty="0"/>
          </a:p>
        </p:txBody>
      </p:sp>
      <p:pic>
        <p:nvPicPr>
          <p:cNvPr id="40" name="Fix item icon" descr="Fix item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43531" y="3629227"/>
            <a:ext cx="317492" cy="317492"/>
          </a:xfrm>
          <a:prstGeom prst="rect">
            <a:avLst/>
          </a:prstGeom>
        </p:spPr>
      </p:pic>
      <p:sp>
        <p:nvSpPr>
          <p:cNvPr id="41" name="Fix item"/>
          <p:cNvSpPr txBox="1"/>
          <p:nvPr/>
        </p:nvSpPr>
        <p:spPr>
          <a:xfrm>
            <a:off x="7283268" y="3680817"/>
            <a:ext cx="482587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integrity — tamper-proof</a:t>
            </a:r>
            <a:endParaRPr lang="en-US" sz="1500" dirty="0"/>
          </a:p>
        </p:txBody>
      </p:sp>
      <p:pic>
        <p:nvPicPr>
          <p:cNvPr id="42" name="Fix item icon" descr="Fix item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43531" y="4116788"/>
            <a:ext cx="317492" cy="317492"/>
          </a:xfrm>
          <a:prstGeom prst="rect">
            <a:avLst/>
          </a:prstGeom>
        </p:spPr>
      </p:pic>
      <p:sp>
        <p:nvSpPr>
          <p:cNvPr id="43" name="Fix item"/>
          <p:cNvSpPr txBox="1"/>
          <p:nvPr/>
        </p:nvSpPr>
        <p:spPr>
          <a:xfrm>
            <a:off x="7283268" y="3954066"/>
            <a:ext cx="482587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for each Command to retrieve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in any environment or posture with CIA —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· Integrity · Availability</a:t>
            </a:r>
            <a:endParaRPr lang="en-US" sz="1500" dirty="0"/>
          </a:p>
        </p:txBody>
      </p:sp>
      <p:sp>
        <p:nvSpPr>
          <p:cNvPr id="44" name="Impact band"/>
          <p:cNvSpPr/>
          <p:nvPr/>
        </p:nvSpPr>
        <p:spPr>
          <a:xfrm>
            <a:off x="0" y="4741664"/>
            <a:ext cx="12191695" cy="1714500"/>
          </a:xfrm>
          <a:prstGeom prst="rect">
            <a:avLst/>
          </a:prstGeom>
          <a:solidFill>
            <a:srgbClr val="CBAA7A"/>
          </a:solidFill>
          <a:ln w="12700">
            <a:solidFill>
              <a:srgbClr val="CBAA7A"/>
            </a:solidFill>
            <a:prstDash val="solid"/>
          </a:ln>
        </p:spPr>
      </p:sp>
      <p:sp>
        <p:nvSpPr>
          <p:cNvPr id="45" name="Impact heading"/>
          <p:cNvSpPr txBox="1"/>
          <p:nvPr/>
        </p:nvSpPr>
        <p:spPr>
          <a:xfrm>
            <a:off x="2285943" y="4811316"/>
            <a:ext cx="7619810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Warfighting Impact &amp; Fleet Readiness</a:t>
            </a:r>
            <a:endParaRPr lang="en-US" sz="2200" dirty="0"/>
          </a:p>
        </p:txBody>
      </p:sp>
      <p:sp>
        <p:nvSpPr>
          <p:cNvPr id="46" name="Shape 29"/>
          <p:cNvSpPr/>
          <p:nvPr/>
        </p:nvSpPr>
        <p:spPr>
          <a:xfrm>
            <a:off x="4190895" y="5331023"/>
            <a:ext cx="0" cy="910828"/>
          </a:xfrm>
          <a:prstGeom prst="line">
            <a:avLst/>
          </a:prstGeom>
          <a:noFill/>
          <a:ln w="12700">
            <a:solidFill>
              <a:srgbClr val="A68A60"/>
            </a:solidFill>
            <a:prstDash val="solid"/>
          </a:ln>
        </p:spPr>
      </p:sp>
      <p:sp>
        <p:nvSpPr>
          <p:cNvPr id="47" name="Shape 30"/>
          <p:cNvSpPr/>
          <p:nvPr/>
        </p:nvSpPr>
        <p:spPr>
          <a:xfrm>
            <a:off x="8045249" y="5331023"/>
            <a:ext cx="0" cy="910828"/>
          </a:xfrm>
          <a:prstGeom prst="line">
            <a:avLst/>
          </a:prstGeom>
          <a:noFill/>
          <a:ln w="12700">
            <a:solidFill>
              <a:srgbClr val="A68A60"/>
            </a:solidFill>
            <a:prstDash val="solid"/>
          </a:ln>
        </p:spPr>
      </p:sp>
      <p:pic>
        <p:nvPicPr>
          <p:cNvPr id="48" name="Speed icon" descr="Speed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04952" y="5154216"/>
            <a:ext cx="419090" cy="419090"/>
          </a:xfrm>
          <a:prstGeom prst="rect">
            <a:avLst/>
          </a:prstGeom>
        </p:spPr>
      </p:pic>
      <p:sp>
        <p:nvSpPr>
          <p:cNvPr id="49" name="Impact 1 headline"/>
          <p:cNvSpPr txBox="1"/>
          <p:nvPr/>
        </p:nvSpPr>
        <p:spPr>
          <a:xfrm>
            <a:off x="253994" y="5636419"/>
            <a:ext cx="380990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time to actionable delivery</a:t>
            </a:r>
            <a:endParaRPr lang="en-US" sz="1800" dirty="0"/>
          </a:p>
        </p:txBody>
      </p:sp>
      <p:sp>
        <p:nvSpPr>
          <p:cNvPr id="50" name="Impact 1 detail"/>
          <p:cNvSpPr txBox="1"/>
          <p:nvPr/>
        </p:nvSpPr>
        <p:spPr>
          <a:xfrm>
            <a:off x="253994" y="5925741"/>
            <a:ext cx="3809905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for the mission 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inbox management</a:t>
            </a:r>
            <a:endParaRPr lang="en-US" sz="1250" dirty="0"/>
          </a:p>
        </p:txBody>
      </p:sp>
      <p:pic>
        <p:nvPicPr>
          <p:cNvPr id="51" name="Satellite icon" descr="Satellite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05352" y="5154216"/>
            <a:ext cx="419090" cy="419090"/>
          </a:xfrm>
          <a:prstGeom prst="rect">
            <a:avLst/>
          </a:prstGeom>
        </p:spPr>
      </p:pic>
      <p:sp>
        <p:nvSpPr>
          <p:cNvPr id="52" name="Impact 2 headline"/>
          <p:cNvSpPr txBox="1"/>
          <p:nvPr/>
        </p:nvSpPr>
        <p:spPr>
          <a:xfrm>
            <a:off x="4317892" y="5625703"/>
            <a:ext cx="3619410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Fleet</a:t>
            </a:r>
            <a:endParaRPr lang="en-US" sz="1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DDIL capable</a:t>
            </a:r>
            <a:endParaRPr lang="en-US" sz="1800" dirty="0"/>
          </a:p>
        </p:txBody>
      </p:sp>
      <p:sp>
        <p:nvSpPr>
          <p:cNvPr id="53" name="Impact 2 detail"/>
          <p:cNvSpPr txBox="1"/>
          <p:nvPr/>
        </p:nvSpPr>
        <p:spPr>
          <a:xfrm>
            <a:off x="4317892" y="6140053"/>
            <a:ext cx="361941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offline · low-bandwidth resilient</a:t>
            </a:r>
            <a:endParaRPr lang="en-US" sz="1300" dirty="0"/>
          </a:p>
        </p:txBody>
      </p:sp>
      <p:pic>
        <p:nvPicPr>
          <p:cNvPr id="54" name="Network icon" descr="Network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23204" y="5154216"/>
            <a:ext cx="419090" cy="419090"/>
          </a:xfrm>
          <a:prstGeom prst="rect">
            <a:avLst/>
          </a:prstGeom>
        </p:spPr>
      </p:pic>
      <p:sp>
        <p:nvSpPr>
          <p:cNvPr id="55" name="Impact 3 headline"/>
          <p:cNvSpPr txBox="1"/>
          <p:nvPr/>
        </p:nvSpPr>
        <p:spPr>
          <a:xfrm>
            <a:off x="8191295" y="5625703"/>
            <a:ext cx="3682908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War Wide</a:t>
            </a:r>
            <a:endParaRPr lang="en-US" sz="1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800" dirty="0"/>
          </a:p>
        </p:txBody>
      </p:sp>
      <p:sp>
        <p:nvSpPr>
          <p:cNvPr id="56" name="Impact 3 detail"/>
          <p:cNvSpPr txBox="1"/>
          <p:nvPr/>
        </p:nvSpPr>
        <p:spPr>
          <a:xfrm>
            <a:off x="8191295" y="6140053"/>
            <a:ext cx="368290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Services · All Domains</a:t>
            </a:r>
            <a:endParaRPr lang="en-US" sz="1300" dirty="0"/>
          </a:p>
        </p:txBody>
      </p:sp>
      <p:sp>
        <p:nvSpPr>
          <p:cNvPr id="57" name="Footer band"/>
          <p:cNvSpPr/>
          <p:nvPr/>
        </p:nvSpPr>
        <p:spPr>
          <a:xfrm>
            <a:off x="0" y="6456164"/>
            <a:ext cx="12191695" cy="401836"/>
          </a:xfrm>
          <a:prstGeom prst="rect">
            <a:avLst/>
          </a:prstGeom>
          <a:solidFill>
            <a:srgbClr val="0F2341"/>
          </a:solidFill>
          <a:ln w="12700">
            <a:solidFill>
              <a:srgbClr val="0F2341"/>
            </a:solidFill>
            <a:prstDash val="solid"/>
          </a:ln>
        </p:spPr>
      </p:sp>
      <p:sp>
        <p:nvSpPr>
          <p:cNvPr id="58" name="Footer"/>
          <p:cNvSpPr txBox="1"/>
          <p:nvPr/>
        </p:nvSpPr>
        <p:spPr>
          <a:xfrm>
            <a:off x="253994" y="6493669"/>
            <a:ext cx="11683708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50" kern="0" dirty="0">
                <a:solidFill>
                  <a:srgbClr val="D9B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 •  Secure  •  Auditable  •  Interoperable  •  Department of War Wide Ready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1328738"/>
          </a:xfrm>
          <a:prstGeom prst="rect">
            <a:avLst/>
          </a:prstGeom>
          <a:solidFill>
            <a:srgbClr val="0F2341"/>
          </a:solidFill>
          <a:ln w="12700">
            <a:solidFill>
              <a:srgbClr val="0F2341"/>
            </a:solidFill>
            <a:prstDash val="solid"/>
          </a:ln>
        </p:spPr>
      </p:sp>
      <p:sp>
        <p:nvSpPr>
          <p:cNvPr id="3" name="Logo ring"/>
          <p:cNvSpPr/>
          <p:nvPr/>
        </p:nvSpPr>
        <p:spPr>
          <a:xfrm>
            <a:off x="457189" y="305395"/>
            <a:ext cx="876278" cy="876278"/>
          </a:xfrm>
          <a:prstGeom prst="ellipse">
            <a:avLst/>
          </a:prstGeom>
          <a:solidFill>
            <a:srgbClr val="0F2341"/>
          </a:solidFill>
          <a:ln w="12700">
            <a:solidFill>
              <a:srgbClr val="3D5070"/>
            </a:solidFill>
            <a:prstDash val="solid"/>
          </a:ln>
        </p:spPr>
      </p:sp>
      <p:pic>
        <p:nvPicPr>
          <p:cNvPr id="4" name="Anchor logo" descr="Anchor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07194"/>
            <a:ext cx="571486" cy="571486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1473163" y="160734"/>
            <a:ext cx="4063898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</a:t>
            </a:r>
            <a:endParaRPr lang="en-US" sz="6000" dirty="0"/>
          </a:p>
        </p:txBody>
      </p:sp>
      <p:sp>
        <p:nvSpPr>
          <p:cNvPr id="6" name="Subtitle"/>
          <p:cNvSpPr txBox="1"/>
          <p:nvPr/>
        </p:nvSpPr>
        <p:spPr>
          <a:xfrm>
            <a:off x="1504912" y="910828"/>
            <a:ext cx="7302317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NAVAL COMMUNICATIONS HUB FOR OFFICIAL RECORDS</a:t>
            </a:r>
            <a:endParaRPr lang="en-US" sz="1300" dirty="0"/>
          </a:p>
        </p:txBody>
      </p:sp>
      <p:sp>
        <p:nvSpPr>
          <p:cNvPr id="7" name="Tagline"/>
          <p:cNvSpPr txBox="1"/>
          <p:nvPr/>
        </p:nvSpPr>
        <p:spPr>
          <a:xfrm>
            <a:off x="8826279" y="385763"/>
            <a:ext cx="3047924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D2A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ANCHOR THAT WILL</a:t>
            </a:r>
            <a:endParaRPr lang="en-US" sz="1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D2A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SLOW YOU DOWN</a:t>
            </a:r>
            <a:endParaRPr lang="en-US" sz="1900" dirty="0"/>
          </a:p>
        </p:txBody>
      </p:sp>
      <p:sp>
        <p:nvSpPr>
          <p:cNvPr id="8" name="Problem background"/>
          <p:cNvSpPr/>
          <p:nvPr/>
        </p:nvSpPr>
        <p:spPr>
          <a:xfrm>
            <a:off x="0" y="1328738"/>
            <a:ext cx="6095848" cy="3412927"/>
          </a:xfrm>
          <a:prstGeom prst="rect">
            <a:avLst/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83148" y="1543050"/>
            <a:ext cx="0" cy="3000375"/>
          </a:xfrm>
          <a:prstGeom prst="line">
            <a:avLst/>
          </a:prstGeom>
          <a:noFill/>
          <a:ln w="19050">
            <a:solidFill>
              <a:srgbClr val="C9A26B"/>
            </a:solidFill>
            <a:prstDash val="solid"/>
          </a:ln>
        </p:spPr>
      </p:sp>
      <p:pic>
        <p:nvPicPr>
          <p:cNvPr id="10" name="Problem icon" descr="Problem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83" y="1639491"/>
            <a:ext cx="406390" cy="406390"/>
          </a:xfrm>
          <a:prstGeom prst="rect">
            <a:avLst/>
          </a:prstGeom>
        </p:spPr>
      </p:pic>
      <p:sp>
        <p:nvSpPr>
          <p:cNvPr id="11" name="Problem heading"/>
          <p:cNvSpPr txBox="1"/>
          <p:nvPr/>
        </p:nvSpPr>
        <p:spPr>
          <a:xfrm>
            <a:off x="1219170" y="1526977"/>
            <a:ext cx="4698883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endParaRPr lang="en-US" sz="4200" dirty="0"/>
          </a:p>
        </p:txBody>
      </p:sp>
      <p:sp>
        <p:nvSpPr>
          <p:cNvPr id="12" name="Bullet dot"/>
          <p:cNvSpPr/>
          <p:nvPr/>
        </p:nvSpPr>
        <p:spPr>
          <a:xfrm>
            <a:off x="527037" y="2293144"/>
            <a:ext cx="88898" cy="88898"/>
          </a:xfrm>
          <a:prstGeom prst="ellipse">
            <a:avLst/>
          </a:prstGeom>
          <a:solidFill>
            <a:srgbClr val="C9A26B"/>
          </a:solidFill>
          <a:ln w="12700">
            <a:solidFill>
              <a:srgbClr val="C9A26B"/>
            </a:solidFill>
            <a:prstDash val="solid"/>
          </a:ln>
        </p:spPr>
      </p:sp>
      <p:pic>
        <p:nvPicPr>
          <p:cNvPr id="13" name="Problem item icon" descr="Problem item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" y="2171902"/>
            <a:ext cx="317492" cy="317492"/>
          </a:xfrm>
          <a:prstGeom prst="rect">
            <a:avLst/>
          </a:prstGeom>
        </p:spPr>
      </p:pic>
      <p:sp>
        <p:nvSpPr>
          <p:cNvPr id="14" name="Problem item"/>
          <p:cNvSpPr txBox="1"/>
          <p:nvPr/>
        </p:nvSpPr>
        <p:spPr>
          <a:xfrm>
            <a:off x="1257269" y="2191345"/>
            <a:ext cx="47623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flooded with thousands of emails</a:t>
            </a:r>
            <a:endParaRPr lang="en-US" sz="1700" dirty="0"/>
          </a:p>
        </p:txBody>
      </p:sp>
      <p:sp>
        <p:nvSpPr>
          <p:cNvPr id="15" name="Bullet dot"/>
          <p:cNvSpPr/>
          <p:nvPr/>
        </p:nvSpPr>
        <p:spPr>
          <a:xfrm>
            <a:off x="527037" y="2694980"/>
            <a:ext cx="88898" cy="88898"/>
          </a:xfrm>
          <a:prstGeom prst="ellipse">
            <a:avLst/>
          </a:prstGeom>
          <a:solidFill>
            <a:srgbClr val="C9A26B"/>
          </a:solidFill>
          <a:ln w="12700">
            <a:solidFill>
              <a:srgbClr val="C9A26B"/>
            </a:solidFill>
            <a:prstDash val="solid"/>
          </a:ln>
        </p:spPr>
      </p:sp>
      <p:pic>
        <p:nvPicPr>
          <p:cNvPr id="16" name="Problem item icon" descr="Problem item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82" y="2573738"/>
            <a:ext cx="317492" cy="317492"/>
          </a:xfrm>
          <a:prstGeom prst="rect">
            <a:avLst/>
          </a:prstGeom>
        </p:spPr>
      </p:pic>
      <p:sp>
        <p:nvSpPr>
          <p:cNvPr id="17" name="Problem item"/>
          <p:cNvSpPr txBox="1"/>
          <p:nvPr/>
        </p:nvSpPr>
        <p:spPr>
          <a:xfrm>
            <a:off x="1257269" y="2593181"/>
            <a:ext cx="47623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copies everywhere — no single truth</a:t>
            </a:r>
            <a:endParaRPr lang="en-US" sz="1700" dirty="0"/>
          </a:p>
        </p:txBody>
      </p:sp>
      <p:sp>
        <p:nvSpPr>
          <p:cNvPr id="18" name="Bullet dot"/>
          <p:cNvSpPr/>
          <p:nvPr/>
        </p:nvSpPr>
        <p:spPr>
          <a:xfrm>
            <a:off x="527037" y="3096816"/>
            <a:ext cx="88898" cy="88898"/>
          </a:xfrm>
          <a:prstGeom prst="ellipse">
            <a:avLst/>
          </a:prstGeom>
          <a:solidFill>
            <a:srgbClr val="C9A26B"/>
          </a:solidFill>
          <a:ln w="12700">
            <a:solidFill>
              <a:srgbClr val="C9A26B"/>
            </a:solidFill>
            <a:prstDash val="solid"/>
          </a:ln>
        </p:spPr>
      </p:sp>
      <p:pic>
        <p:nvPicPr>
          <p:cNvPr id="19" name="Problem item icon" descr="Problem item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82" y="2975574"/>
            <a:ext cx="317492" cy="317492"/>
          </a:xfrm>
          <a:prstGeom prst="rect">
            <a:avLst/>
          </a:prstGeom>
        </p:spPr>
      </p:pic>
      <p:sp>
        <p:nvSpPr>
          <p:cNvPr id="20" name="Problem item"/>
          <p:cNvSpPr txBox="1"/>
          <p:nvPr/>
        </p:nvSpPr>
        <p:spPr>
          <a:xfrm>
            <a:off x="1257269" y="2995017"/>
            <a:ext cx="47623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sorting and filtering eats the day</a:t>
            </a:r>
            <a:endParaRPr lang="en-US" sz="1700" dirty="0"/>
          </a:p>
        </p:txBody>
      </p:sp>
      <p:sp>
        <p:nvSpPr>
          <p:cNvPr id="21" name="Bullet dot"/>
          <p:cNvSpPr/>
          <p:nvPr/>
        </p:nvSpPr>
        <p:spPr>
          <a:xfrm>
            <a:off x="527037" y="3498652"/>
            <a:ext cx="88898" cy="88898"/>
          </a:xfrm>
          <a:prstGeom prst="ellipse">
            <a:avLst/>
          </a:prstGeom>
          <a:solidFill>
            <a:srgbClr val="C9A26B"/>
          </a:solidFill>
          <a:ln w="12700">
            <a:solidFill>
              <a:srgbClr val="C9A26B"/>
            </a:solidFill>
            <a:prstDash val="solid"/>
          </a:ln>
        </p:spPr>
      </p:sp>
      <p:pic>
        <p:nvPicPr>
          <p:cNvPr id="22" name="Problem item icon" descr="Problem item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82" y="3377410"/>
            <a:ext cx="317492" cy="317492"/>
          </a:xfrm>
          <a:prstGeom prst="rect">
            <a:avLst/>
          </a:prstGeom>
        </p:spPr>
      </p:pic>
      <p:sp>
        <p:nvSpPr>
          <p:cNvPr id="23" name="Problem item"/>
          <p:cNvSpPr txBox="1"/>
          <p:nvPr/>
        </p:nvSpPr>
        <p:spPr>
          <a:xfrm>
            <a:off x="1257269" y="3396853"/>
            <a:ext cx="47623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find the authoritative version</a:t>
            </a:r>
            <a:endParaRPr lang="en-US" sz="1700" dirty="0"/>
          </a:p>
        </p:txBody>
      </p:sp>
      <p:sp>
        <p:nvSpPr>
          <p:cNvPr id="24" name="Bullet dot"/>
          <p:cNvSpPr/>
          <p:nvPr/>
        </p:nvSpPr>
        <p:spPr>
          <a:xfrm>
            <a:off x="527037" y="3900488"/>
            <a:ext cx="88898" cy="88898"/>
          </a:xfrm>
          <a:prstGeom prst="ellipse">
            <a:avLst/>
          </a:prstGeom>
          <a:solidFill>
            <a:srgbClr val="C9A26B"/>
          </a:solidFill>
          <a:ln w="12700">
            <a:solidFill>
              <a:srgbClr val="C9A26B"/>
            </a:solidFill>
            <a:prstDash val="solid"/>
          </a:ln>
        </p:spPr>
      </p:sp>
      <p:pic>
        <p:nvPicPr>
          <p:cNvPr id="25" name="Problem item icon" descr="Problem item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882" y="3779246"/>
            <a:ext cx="317492" cy="317492"/>
          </a:xfrm>
          <a:prstGeom prst="rect">
            <a:avLst/>
          </a:prstGeom>
        </p:spPr>
      </p:pic>
      <p:sp>
        <p:nvSpPr>
          <p:cNvPr id="26" name="Problem item"/>
          <p:cNvSpPr txBox="1"/>
          <p:nvPr/>
        </p:nvSpPr>
        <p:spPr>
          <a:xfrm>
            <a:off x="1257269" y="3798689"/>
            <a:ext cx="47623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Hard-to-read legacy format</a:t>
            </a:r>
            <a:endParaRPr lang="en-US" sz="1700" dirty="0"/>
          </a:p>
        </p:txBody>
      </p:sp>
      <p:sp>
        <p:nvSpPr>
          <p:cNvPr id="27" name="Bullet dot"/>
          <p:cNvSpPr/>
          <p:nvPr/>
        </p:nvSpPr>
        <p:spPr>
          <a:xfrm>
            <a:off x="527037" y="4302323"/>
            <a:ext cx="88898" cy="88898"/>
          </a:xfrm>
          <a:prstGeom prst="ellipse">
            <a:avLst/>
          </a:prstGeom>
          <a:solidFill>
            <a:srgbClr val="C9A26B"/>
          </a:solidFill>
          <a:ln w="12700">
            <a:solidFill>
              <a:srgbClr val="C9A26B"/>
            </a:solidFill>
            <a:prstDash val="solid"/>
          </a:ln>
        </p:spPr>
      </p:sp>
      <p:pic>
        <p:nvPicPr>
          <p:cNvPr id="28" name="Problem item icon" descr="Problem item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882" y="4181082"/>
            <a:ext cx="317492" cy="317492"/>
          </a:xfrm>
          <a:prstGeom prst="rect">
            <a:avLst/>
          </a:prstGeom>
        </p:spPr>
      </p:pic>
      <p:sp>
        <p:nvSpPr>
          <p:cNvPr id="29" name="Problem item"/>
          <p:cNvSpPr txBox="1"/>
          <p:nvPr/>
        </p:nvSpPr>
        <p:spPr>
          <a:xfrm>
            <a:off x="1257269" y="4200525"/>
            <a:ext cx="47623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edits break trust and version control</a:t>
            </a:r>
            <a:endParaRPr lang="en-US" sz="1700" dirty="0"/>
          </a:p>
        </p:txBody>
      </p:sp>
      <p:pic>
        <p:nvPicPr>
          <p:cNvPr id="30" name="Fix icon" descr="Fix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8132" y="1628775"/>
            <a:ext cx="419090" cy="419090"/>
          </a:xfrm>
          <a:prstGeom prst="rect">
            <a:avLst/>
          </a:prstGeom>
        </p:spPr>
      </p:pic>
      <p:sp>
        <p:nvSpPr>
          <p:cNvPr id="31" name="Fix heading"/>
          <p:cNvSpPr txBox="1"/>
          <p:nvPr/>
        </p:nvSpPr>
        <p:spPr>
          <a:xfrm>
            <a:off x="7270568" y="1526977"/>
            <a:ext cx="4444889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endParaRPr lang="en-US" sz="4200" dirty="0"/>
          </a:p>
        </p:txBody>
      </p:sp>
      <p:pic>
        <p:nvPicPr>
          <p:cNvPr id="32" name="Fix item icon" descr="Fix item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3531" y="2145113"/>
            <a:ext cx="317492" cy="317492"/>
          </a:xfrm>
          <a:prstGeom prst="rect">
            <a:avLst/>
          </a:prstGeom>
        </p:spPr>
      </p:pic>
      <p:sp>
        <p:nvSpPr>
          <p:cNvPr id="33" name="Fix item"/>
          <p:cNvSpPr txBox="1"/>
          <p:nvPr/>
        </p:nvSpPr>
        <p:spPr>
          <a:xfrm>
            <a:off x="7283268" y="2196703"/>
            <a:ext cx="482587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subscriptions for users and roles</a:t>
            </a:r>
            <a:endParaRPr lang="en-US" sz="1500" dirty="0"/>
          </a:p>
        </p:txBody>
      </p:sp>
      <p:pic>
        <p:nvPicPr>
          <p:cNvPr id="34" name="Fix item icon" descr="Fix item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3531" y="2530876"/>
            <a:ext cx="317492" cy="317492"/>
          </a:xfrm>
          <a:prstGeom prst="rect">
            <a:avLst/>
          </a:prstGeom>
        </p:spPr>
      </p:pic>
      <p:sp>
        <p:nvSpPr>
          <p:cNvPr id="35" name="Fix item"/>
          <p:cNvSpPr txBox="1"/>
          <p:nvPr/>
        </p:nvSpPr>
        <p:spPr>
          <a:xfrm>
            <a:off x="7283268" y="2582466"/>
            <a:ext cx="482587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searches across need to know</a:t>
            </a:r>
            <a:endParaRPr lang="en-US" sz="1500" dirty="0"/>
          </a:p>
        </p:txBody>
      </p:sp>
      <p:pic>
        <p:nvPicPr>
          <p:cNvPr id="36" name="Fix item icon" descr="Fix item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3531" y="2916638"/>
            <a:ext cx="317492" cy="317492"/>
          </a:xfrm>
          <a:prstGeom prst="rect">
            <a:avLst/>
          </a:prstGeom>
        </p:spPr>
      </p:pic>
      <p:sp>
        <p:nvSpPr>
          <p:cNvPr id="37" name="Fix item"/>
          <p:cNvSpPr txBox="1"/>
          <p:nvPr/>
        </p:nvSpPr>
        <p:spPr>
          <a:xfrm>
            <a:off x="7283268" y="2968228"/>
            <a:ext cx="482587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briefings with mandatory ack and audit</a:t>
            </a:r>
            <a:endParaRPr lang="en-US" sz="1500" dirty="0"/>
          </a:p>
        </p:txBody>
      </p:sp>
      <p:pic>
        <p:nvPicPr>
          <p:cNvPr id="38" name="Fix item icon" descr="Fix item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3531" y="3302401"/>
            <a:ext cx="317492" cy="317492"/>
          </a:xfrm>
          <a:prstGeom prst="rect">
            <a:avLst/>
          </a:prstGeom>
        </p:spPr>
      </p:pic>
      <p:sp>
        <p:nvSpPr>
          <p:cNvPr id="39" name="Fix item"/>
          <p:cNvSpPr txBox="1"/>
          <p:nvPr/>
        </p:nvSpPr>
        <p:spPr>
          <a:xfrm>
            <a:off x="7283268" y="3353991"/>
            <a:ext cx="482587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Mode for EMCON/DDIL</a:t>
            </a:r>
            <a:endParaRPr lang="en-US" sz="1500" dirty="0"/>
          </a:p>
        </p:txBody>
      </p:sp>
      <p:pic>
        <p:nvPicPr>
          <p:cNvPr id="40" name="Fix item icon" descr="Fix item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43531" y="3688163"/>
            <a:ext cx="317492" cy="317492"/>
          </a:xfrm>
          <a:prstGeom prst="rect">
            <a:avLst/>
          </a:prstGeom>
        </p:spPr>
      </p:pic>
      <p:sp>
        <p:nvSpPr>
          <p:cNvPr id="41" name="Fix item"/>
          <p:cNvSpPr txBox="1"/>
          <p:nvPr/>
        </p:nvSpPr>
        <p:spPr>
          <a:xfrm>
            <a:off x="7283268" y="3739753"/>
            <a:ext cx="482587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- At Rest, In Transit, In Use</a:t>
            </a:r>
            <a:endParaRPr lang="en-US" sz="1500" dirty="0"/>
          </a:p>
        </p:txBody>
      </p:sp>
      <p:pic>
        <p:nvPicPr>
          <p:cNvPr id="42" name="Fix item icon" descr="Fix item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43531" y="4138220"/>
            <a:ext cx="317492" cy="317492"/>
          </a:xfrm>
          <a:prstGeom prst="rect">
            <a:avLst/>
          </a:prstGeom>
        </p:spPr>
      </p:pic>
      <p:sp>
        <p:nvSpPr>
          <p:cNvPr id="43" name="Fix item"/>
          <p:cNvSpPr txBox="1"/>
          <p:nvPr/>
        </p:nvSpPr>
        <p:spPr>
          <a:xfrm>
            <a:off x="7283268" y="4082653"/>
            <a:ext cx="482587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by Design -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Confidentiality, Integrity, Availability</a:t>
            </a:r>
            <a:endParaRPr lang="en-US" sz="1500" dirty="0"/>
          </a:p>
        </p:txBody>
      </p:sp>
      <p:sp>
        <p:nvSpPr>
          <p:cNvPr id="44" name="Impact band"/>
          <p:cNvSpPr/>
          <p:nvPr/>
        </p:nvSpPr>
        <p:spPr>
          <a:xfrm>
            <a:off x="0" y="4741664"/>
            <a:ext cx="12191695" cy="1714500"/>
          </a:xfrm>
          <a:prstGeom prst="rect">
            <a:avLst/>
          </a:prstGeom>
          <a:solidFill>
            <a:srgbClr val="CBAA7A"/>
          </a:solidFill>
          <a:ln w="12700">
            <a:solidFill>
              <a:srgbClr val="CBAA7A"/>
            </a:solidFill>
            <a:prstDash val="solid"/>
          </a:ln>
        </p:spPr>
      </p:sp>
      <p:sp>
        <p:nvSpPr>
          <p:cNvPr id="45" name="Impact heading"/>
          <p:cNvSpPr txBox="1"/>
          <p:nvPr/>
        </p:nvSpPr>
        <p:spPr>
          <a:xfrm>
            <a:off x="2285943" y="4811316"/>
            <a:ext cx="7619810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Warfighting Impact &amp; Fleet Readiness</a:t>
            </a:r>
            <a:endParaRPr lang="en-US" sz="2200" dirty="0"/>
          </a:p>
        </p:txBody>
      </p:sp>
      <p:sp>
        <p:nvSpPr>
          <p:cNvPr id="46" name="Shape 29"/>
          <p:cNvSpPr/>
          <p:nvPr/>
        </p:nvSpPr>
        <p:spPr>
          <a:xfrm>
            <a:off x="4190895" y="5331023"/>
            <a:ext cx="0" cy="910828"/>
          </a:xfrm>
          <a:prstGeom prst="line">
            <a:avLst/>
          </a:prstGeom>
          <a:noFill/>
          <a:ln w="12700">
            <a:solidFill>
              <a:srgbClr val="A68A60"/>
            </a:solidFill>
            <a:prstDash val="solid"/>
          </a:ln>
        </p:spPr>
      </p:sp>
      <p:sp>
        <p:nvSpPr>
          <p:cNvPr id="47" name="Shape 30"/>
          <p:cNvSpPr/>
          <p:nvPr/>
        </p:nvSpPr>
        <p:spPr>
          <a:xfrm>
            <a:off x="8045249" y="5331023"/>
            <a:ext cx="0" cy="910828"/>
          </a:xfrm>
          <a:prstGeom prst="line">
            <a:avLst/>
          </a:prstGeom>
          <a:noFill/>
          <a:ln w="12700">
            <a:solidFill>
              <a:srgbClr val="A68A60"/>
            </a:solidFill>
            <a:prstDash val="solid"/>
          </a:ln>
        </p:spPr>
      </p:sp>
      <p:pic>
        <p:nvPicPr>
          <p:cNvPr id="48" name="Speed icon" descr="Speed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04952" y="5154216"/>
            <a:ext cx="419090" cy="419090"/>
          </a:xfrm>
          <a:prstGeom prst="rect">
            <a:avLst/>
          </a:prstGeom>
        </p:spPr>
      </p:pic>
      <p:sp>
        <p:nvSpPr>
          <p:cNvPr id="49" name="Impact 1 headline"/>
          <p:cNvSpPr txBox="1"/>
          <p:nvPr/>
        </p:nvSpPr>
        <p:spPr>
          <a:xfrm>
            <a:off x="253994" y="5636419"/>
            <a:ext cx="380990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time to actionable delivery</a:t>
            </a:r>
            <a:endParaRPr lang="en-US" sz="1800" dirty="0"/>
          </a:p>
        </p:txBody>
      </p:sp>
      <p:sp>
        <p:nvSpPr>
          <p:cNvPr id="50" name="Impact 1 detail"/>
          <p:cNvSpPr txBox="1"/>
          <p:nvPr/>
        </p:nvSpPr>
        <p:spPr>
          <a:xfrm>
            <a:off x="253994" y="5925741"/>
            <a:ext cx="3809905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for the mission 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inbox management</a:t>
            </a:r>
            <a:endParaRPr lang="en-US" sz="1250" dirty="0"/>
          </a:p>
        </p:txBody>
      </p:sp>
      <p:pic>
        <p:nvPicPr>
          <p:cNvPr id="51" name="Satellite icon" descr="Satellite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05352" y="5154216"/>
            <a:ext cx="419090" cy="419090"/>
          </a:xfrm>
          <a:prstGeom prst="rect">
            <a:avLst/>
          </a:prstGeom>
        </p:spPr>
      </p:pic>
      <p:sp>
        <p:nvSpPr>
          <p:cNvPr id="52" name="Impact 2 headline"/>
          <p:cNvSpPr txBox="1"/>
          <p:nvPr/>
        </p:nvSpPr>
        <p:spPr>
          <a:xfrm>
            <a:off x="4317892" y="5625703"/>
            <a:ext cx="3619410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Fleet</a:t>
            </a:r>
            <a:endParaRPr lang="en-US" sz="1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DDIL capable</a:t>
            </a:r>
            <a:endParaRPr lang="en-US" sz="1800" dirty="0"/>
          </a:p>
        </p:txBody>
      </p:sp>
      <p:sp>
        <p:nvSpPr>
          <p:cNvPr id="53" name="Impact 2 detail"/>
          <p:cNvSpPr txBox="1"/>
          <p:nvPr/>
        </p:nvSpPr>
        <p:spPr>
          <a:xfrm>
            <a:off x="4317892" y="6140053"/>
            <a:ext cx="361941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offline · low-bandwidth resilient</a:t>
            </a:r>
            <a:endParaRPr lang="en-US" sz="1300" dirty="0"/>
          </a:p>
        </p:txBody>
      </p:sp>
      <p:pic>
        <p:nvPicPr>
          <p:cNvPr id="54" name="Network icon" descr="Network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23204" y="5154216"/>
            <a:ext cx="419090" cy="419090"/>
          </a:xfrm>
          <a:prstGeom prst="rect">
            <a:avLst/>
          </a:prstGeom>
        </p:spPr>
      </p:pic>
      <p:sp>
        <p:nvSpPr>
          <p:cNvPr id="55" name="Impact 3 headline"/>
          <p:cNvSpPr txBox="1"/>
          <p:nvPr/>
        </p:nvSpPr>
        <p:spPr>
          <a:xfrm>
            <a:off x="8191295" y="5625703"/>
            <a:ext cx="3682908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F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800" dirty="0"/>
          </a:p>
        </p:txBody>
      </p:sp>
      <p:sp>
        <p:nvSpPr>
          <p:cNvPr id="56" name="Impact 3 detail"/>
          <p:cNvSpPr txBox="1"/>
          <p:nvPr/>
        </p:nvSpPr>
        <p:spPr>
          <a:xfrm>
            <a:off x="8191295" y="6140053"/>
            <a:ext cx="368290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Service · All Domains</a:t>
            </a:r>
            <a:endParaRPr lang="en-US" sz="1300" dirty="0"/>
          </a:p>
        </p:txBody>
      </p:sp>
      <p:sp>
        <p:nvSpPr>
          <p:cNvPr id="57" name="Footer band"/>
          <p:cNvSpPr/>
          <p:nvPr/>
        </p:nvSpPr>
        <p:spPr>
          <a:xfrm>
            <a:off x="0" y="6456164"/>
            <a:ext cx="12191695" cy="401836"/>
          </a:xfrm>
          <a:prstGeom prst="rect">
            <a:avLst/>
          </a:prstGeom>
          <a:solidFill>
            <a:srgbClr val="0F2341"/>
          </a:solidFill>
          <a:ln w="12700">
            <a:solidFill>
              <a:srgbClr val="0F2341"/>
            </a:solidFill>
            <a:prstDash val="solid"/>
          </a:ln>
        </p:spPr>
      </p:sp>
      <p:sp>
        <p:nvSpPr>
          <p:cNvPr id="58" name="Footer"/>
          <p:cNvSpPr txBox="1"/>
          <p:nvPr/>
        </p:nvSpPr>
        <p:spPr>
          <a:xfrm>
            <a:off x="253994" y="6493669"/>
            <a:ext cx="11683708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50" kern="0" dirty="0">
                <a:solidFill>
                  <a:srgbClr val="D9B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 •  Secure  •  Auditable  •  Interoperable  •  Department of War  •  Wide Ready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ANCHOR one-pager</dc:title>
  <dc:subject>PptxGenJS Presentation</dc:subject>
  <dc:creator>PptxGenJS</dc:creator>
  <cp:lastModifiedBy>PptxGenJS</cp:lastModifiedBy>
  <cp:revision>1</cp:revision>
  <dcterms:created xsi:type="dcterms:W3CDTF">2026-10-25T15:33:11Z</dcterms:created>
  <dcterms:modified xsi:type="dcterms:W3CDTF">2026-10-25T15:33:11Z</dcterms:modified>
</cp:coreProperties>
</file>